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1" autoAdjust="0"/>
  </p:normalViewPr>
  <p:slideViewPr>
    <p:cSldViewPr snapToGrid="0" snapToObjects="1">
      <p:cViewPr varScale="1">
        <p:scale>
          <a:sx n="103" d="100"/>
          <a:sy n="103" d="100"/>
        </p:scale>
        <p:origin x="15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0224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52894" y="1644015"/>
            <a:ext cx="3638212" cy="685800"/>
          </a:xfrm>
          <a:prstGeom prst="rect">
            <a:avLst/>
          </a:prstGeom>
          <a:solidFill>
            <a:schemeClr val="bg1">
              <a:alpha val="7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Governing AI</a:t>
            </a:r>
            <a:endParaRPr lang="en-US" sz="4500" dirty="0">
              <a:solidFill>
                <a:srgbClr val="00B0F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189427" y="2482215"/>
            <a:ext cx="6765146" cy="320040"/>
          </a:xfrm>
          <a:prstGeom prst="rect">
            <a:avLst/>
          </a:prstGeom>
          <a:solidFill>
            <a:schemeClr val="bg1">
              <a:alpha val="7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Reducing Financial and Regulatory Liability of High-Risk Systems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71055" y="3259455"/>
            <a:ext cx="7601772" cy="240030"/>
          </a:xfrm>
          <a:prstGeom prst="rect">
            <a:avLst/>
          </a:prstGeom>
          <a:solidFill>
            <a:schemeClr val="bg1">
              <a:alpha val="7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proactive, framework-driven approach to secure sensitive data and ensure global AI compliance.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" y="952500"/>
            <a:ext cx="7924800" cy="1001077"/>
          </a:xfrm>
          <a:prstGeom prst="roundRect">
            <a:avLst>
              <a:gd name="adj" fmla="val 36537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" y="2121218"/>
            <a:ext cx="7924800" cy="1001077"/>
          </a:xfrm>
          <a:prstGeom prst="roundRect">
            <a:avLst>
              <a:gd name="adj" fmla="val 36537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" y="3289935"/>
            <a:ext cx="7924800" cy="1001077"/>
          </a:xfrm>
          <a:prstGeom prst="roundRect">
            <a:avLst>
              <a:gd name="adj" fmla="val 36537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342900"/>
          </a:xfrm>
          <a:prstGeom prst="rect">
            <a:avLst/>
          </a:prstGeom>
          <a:solidFill>
            <a:schemeClr val="bg1">
              <a:alpha val="7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Current Risk Exposure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800100" y="1104900"/>
            <a:ext cx="7733538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Unmitigated Risk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800100" y="1351717"/>
            <a:ext cx="773353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Systems + PII/PHI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800100" y="1630561"/>
            <a:ext cx="7733538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systems without adequate governance and security controls.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800100" y="2273618"/>
            <a:ext cx="7733538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 Loss Expectancy (ALE)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800100" y="2520434"/>
            <a:ext cx="773353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&gt;$X Million Annual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800100" y="2799279"/>
            <a:ext cx="7733538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high-severity attack (data poisoning, model extraction).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800100" y="3442335"/>
            <a:ext cx="7733538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Urgency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800100" y="3689152"/>
            <a:ext cx="773353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 | GDPR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800100" y="3967996"/>
            <a:ext cx="7733538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Enforcement imminent with severe fines and operational halts.</a:t>
            </a:r>
            <a:endParaRPr lang="en-US" sz="9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A5AF4668-DE58-0863-A296-0C5CCAD08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599" y="1548765"/>
            <a:ext cx="8083297" cy="2045970"/>
          </a:xfrm>
          <a:prstGeom prst="roundRect">
            <a:avLst>
              <a:gd name="adj" fmla="val 23940"/>
            </a:avLst>
          </a:prstGeom>
          <a:solidFill>
            <a:srgbClr val="F1F5F9">
              <a:alpha val="95000"/>
            </a:srgbClr>
          </a:solidFill>
          <a:ln/>
          <a:effectLst>
            <a:outerShdw blurRad="152400" dist="762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609600" y="609600"/>
            <a:ext cx="7924800" cy="822960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Mandate: Transition to Risk-Based Governance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41248" y="1793953"/>
            <a:ext cx="8083296" cy="240030"/>
          </a:xfrm>
          <a:prstGeom prst="rect">
            <a:avLst/>
          </a:prstGeom>
          <a:solidFill>
            <a:srgbClr val="F1F5F9">
              <a:alpha val="5000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from </a:t>
            </a: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Security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Proactive, Risk-Based AI Governance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1248" y="2030173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a robust framework aligned with </a:t>
            </a: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AI RMF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42001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governance into the entire </a:t>
            </a: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 pipeline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clear accountability and audit trails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 verifiable compliance with global AI regulations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" y="1249681"/>
            <a:ext cx="7924800" cy="1527810"/>
          </a:xfrm>
          <a:prstGeom prst="roundRect">
            <a:avLst>
              <a:gd name="adj" fmla="val 23940"/>
            </a:avLst>
          </a:prstGeom>
          <a:solidFill>
            <a:srgbClr val="F1F5F9">
              <a:alpha val="95000"/>
            </a:srgbClr>
          </a:solidFill>
          <a:ln/>
          <a:effectLst>
            <a:outerShdw blurRad="152400" dist="762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" y="3006090"/>
            <a:ext cx="7924800" cy="1527810"/>
          </a:xfrm>
          <a:prstGeom prst="roundRect">
            <a:avLst>
              <a:gd name="adj" fmla="val 23940"/>
            </a:avLst>
          </a:prstGeom>
          <a:solidFill>
            <a:srgbClr val="F1F5F9">
              <a:alpha val="95000"/>
            </a:srgbClr>
          </a:solidFill>
          <a:ln/>
          <a:effectLst>
            <a:outerShdw blurRad="152400" dist="762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1: Accountability (Governance)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81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Requirement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981200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the AI Governance Board to define and enforce clear RACI roles and decision rights for all AI lifecycle stages.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31089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Value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737611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Risk Ownership. Eliminates internal ambiguity. Ensures regulatory accountability for every high-risk AI decision.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" y="1249680"/>
            <a:ext cx="7924800" cy="1527810"/>
          </a:xfrm>
          <a:prstGeom prst="roundRect">
            <a:avLst>
              <a:gd name="adj" fmla="val 23940"/>
            </a:avLst>
          </a:prstGeom>
          <a:solidFill>
            <a:srgbClr val="F1F5F9">
              <a:alpha val="95000"/>
            </a:srgbClr>
          </a:solidFill>
          <a:ln/>
          <a:effectLst>
            <a:outerShdw blurRad="152400" dist="762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" y="3006091"/>
            <a:ext cx="7924800" cy="1527810"/>
          </a:xfrm>
          <a:prstGeom prst="roundRect">
            <a:avLst>
              <a:gd name="adj" fmla="val 23940"/>
            </a:avLst>
          </a:prstGeom>
          <a:solidFill>
            <a:srgbClr val="F1F5F9">
              <a:alpha val="95000"/>
            </a:srgbClr>
          </a:solidFill>
          <a:ln/>
          <a:effectLst>
            <a:outerShdw blurRad="152400" dist="762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2: Security (Technical Controls)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Requirement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981200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Defense-in-Depth architecture, Zero Trust principles, and Model Integrity Verification across training and inference.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310891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Value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737611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Protects proprietary models and regulated data (PII/PHI) from adversarial attacks and internal misuse.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" y="1249680"/>
            <a:ext cx="7924800" cy="1527810"/>
          </a:xfrm>
          <a:prstGeom prst="roundRect">
            <a:avLst>
              <a:gd name="adj" fmla="val 23940"/>
            </a:avLst>
          </a:prstGeom>
          <a:solidFill>
            <a:srgbClr val="F1F5F9">
              <a:alpha val="95000"/>
            </a:srgbClr>
          </a:solidFill>
          <a:ln/>
          <a:effectLst>
            <a:outerShdw blurRad="152400" dist="762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" y="3006091"/>
            <a:ext cx="7924800" cy="1527810"/>
          </a:xfrm>
          <a:prstGeom prst="roundRect">
            <a:avLst>
              <a:gd name="adj" fmla="val 23940"/>
            </a:avLst>
          </a:prstGeom>
          <a:solidFill>
            <a:srgbClr val="F1F5F9">
              <a:alpha val="95000"/>
            </a:srgbClr>
          </a:solidFill>
          <a:ln/>
          <a:effectLst>
            <a:outerShdw blurRad="152400" dist="762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3: Auditability (Compliance)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Requirement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981200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 Registries, Data Lineage tracking, and formalized AI Incident Response Playbook.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310891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Value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737611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documentation and traceability for regulators. Proven due diligence and minimized fines during audits.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6EC5FF-CB98-9F67-EAFE-2D967B5B0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43" y="1717127"/>
            <a:ext cx="8230313" cy="170924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1136452"/>
            <a:ext cx="8083296" cy="411480"/>
          </a:xfrm>
          <a:prstGeom prst="rect">
            <a:avLst/>
          </a:prstGeom>
          <a:solidFill>
            <a:schemeClr val="bg1">
              <a:alpha val="7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Foundation (Months 0–3)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865084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the AI Governance Board (CAIO, CISO, Legal, DPO)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AI Governance and Policies document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the AI System Registry for classification and risk scoring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baseline security requirements and compliance standards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alphaModFix amt="9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B80036-6B8C-492F-1F6A-29A071A82C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583" y="1692101"/>
            <a:ext cx="8230313" cy="184115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988274"/>
            <a:ext cx="8046720" cy="411480"/>
          </a:xfrm>
          <a:prstGeom prst="rect">
            <a:avLst/>
          </a:prstGeom>
          <a:solidFill>
            <a:schemeClr val="bg1">
              <a:alpha val="7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Technical Controls (Months 4–8)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25912" y="1854998"/>
            <a:ext cx="7463883" cy="132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Model Integrity Verification (Signing/SBOMs) into MLOps pipeline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Adversarial Input Filtering on high-risk production systems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Continuous Drift Monitoring and performance tracking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secure model artifact storage and version control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EE319CE8-8BA4-E28F-7EDD-9614B8A52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9073" y="1807845"/>
            <a:ext cx="7924800" cy="1527810"/>
          </a:xfrm>
          <a:prstGeom prst="roundRect">
            <a:avLst>
              <a:gd name="adj" fmla="val 23940"/>
            </a:avLst>
          </a:prstGeom>
          <a:solidFill>
            <a:srgbClr val="F1F5F9">
              <a:alpha val="95000"/>
            </a:srgbClr>
          </a:solidFill>
          <a:ln/>
          <a:effectLst>
            <a:outerShdw blurRad="152400" dist="762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510577" y="1182589"/>
            <a:ext cx="8083296" cy="411480"/>
          </a:xfrm>
          <a:prstGeom prst="rect">
            <a:avLst/>
          </a:prstGeom>
          <a:solidFill>
            <a:schemeClr val="bg1">
              <a:alpha val="7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Operational Resilience (Months 9–12)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73873" y="1941058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Cross-functional training on AI Incident Response Playbook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annual Red Team Exercises to validate resilience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compliance across the AI portfolio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continuous monitoring and governance feedback loops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" y="1249682"/>
            <a:ext cx="7924800" cy="1329690"/>
          </a:xfrm>
          <a:prstGeom prst="roundRect">
            <a:avLst>
              <a:gd name="adj" fmla="val 27507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" y="2731773"/>
            <a:ext cx="7924800" cy="1329690"/>
          </a:xfrm>
          <a:prstGeom prst="roundRect">
            <a:avLst>
              <a:gd name="adj" fmla="val 27507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solidFill>
            <a:srgbClr val="F1F5F9">
              <a:alpha val="8000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ROI: Financial &amp; Strategic Impact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76300" y="1478282"/>
            <a:ext cx="7578090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 Reduction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76300" y="1741173"/>
            <a:ext cx="75780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Risk Mitigation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6300" y="2137409"/>
            <a:ext cx="757809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reduction in breach exposure and compliance penalties.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6300" y="2960373"/>
            <a:ext cx="7578090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76300" y="3223259"/>
            <a:ext cx="75780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Accelerated Innovation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76300" y="3619500"/>
            <a:ext cx="757809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AI safely with confidence and regulatory assurance.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D77EC4F8-72E8-2DF5-6DAE-50E0B1A7D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0322" y="1941430"/>
            <a:ext cx="7924800" cy="1527810"/>
          </a:xfrm>
          <a:prstGeom prst="roundRect">
            <a:avLst>
              <a:gd name="adj" fmla="val 23940"/>
            </a:avLst>
          </a:prstGeom>
          <a:solidFill>
            <a:srgbClr val="F1F5F9">
              <a:alpha val="80000"/>
            </a:srgbClr>
          </a:solidFill>
          <a:ln/>
          <a:effectLst>
            <a:outerShdw blurRad="152400" dist="762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603826" y="1293413"/>
            <a:ext cx="7936228" cy="411480"/>
          </a:xfrm>
          <a:prstGeom prst="rect">
            <a:avLst/>
          </a:prstGeom>
          <a:solidFill>
            <a:srgbClr val="F1F5F9">
              <a:alpha val="8000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Ask: Secure Investment for Safe Innovation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63739" y="2086770"/>
            <a:ext cx="40179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Funding Approval: </a:t>
            </a: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$X Budget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2379" y="2551456"/>
            <a:ext cx="595912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foundational governance and pilot security controls within 3 months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893073" y="2943673"/>
            <a:ext cx="535773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ALE by 60% • Ensure regulatory compliance • Enable accelerated AI deployment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1647" y="1727834"/>
            <a:ext cx="2340707" cy="548640"/>
          </a:xfrm>
          <a:prstGeom prst="rect">
            <a:avLst/>
          </a:prstGeom>
          <a:solidFill>
            <a:srgbClr val="F1F5F9">
              <a:alpha val="8000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545923" y="2505075"/>
            <a:ext cx="2052035" cy="266700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048611" y="3228975"/>
            <a:ext cx="3046659" cy="186690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Risk-Based AI Governance &amp; Security Architecture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498</Words>
  <Application>Microsoft Office PowerPoint</Application>
  <PresentationFormat>On-screen Show (16:9)</PresentationFormat>
  <Paragraphs>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Lord Zezai</cp:lastModifiedBy>
  <cp:revision>2</cp:revision>
  <dcterms:created xsi:type="dcterms:W3CDTF">2025-12-07T19:39:06Z</dcterms:created>
  <dcterms:modified xsi:type="dcterms:W3CDTF">2025-12-07T20:15:52Z</dcterms:modified>
</cp:coreProperties>
</file>